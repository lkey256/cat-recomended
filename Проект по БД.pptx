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5143500" type="screen16x9"/>
  <p:notesSz cx="9144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-594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2343150"/>
            <a:ext cx="6172200" cy="142077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3752492"/>
            <a:ext cx="6172200" cy="10287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8050371" y="832948"/>
            <a:ext cx="1714500" cy="38100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534469" y="3088246"/>
            <a:ext cx="27432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51435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51435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51435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51435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51435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51435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51435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51435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51435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51435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51435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2571750"/>
            <a:ext cx="1295400" cy="97155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3650064"/>
            <a:ext cx="641424" cy="481068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4125474"/>
            <a:ext cx="137160" cy="10287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4341114"/>
            <a:ext cx="274320" cy="20574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Овал 24"/>
          <p:cNvSpPr/>
          <p:nvPr/>
        </p:nvSpPr>
        <p:spPr>
          <a:xfrm>
            <a:off x="1905000" y="3371850"/>
            <a:ext cx="365760" cy="27432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3696527"/>
            <a:ext cx="609600" cy="388143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7467600" cy="3655314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4C71EC6-210F-42DE-9C53-41977AD35B3D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171700"/>
            <a:ext cx="6172200" cy="1540193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3757613"/>
            <a:ext cx="6172200" cy="10287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8049006" y="830199"/>
            <a:ext cx="1714500" cy="38100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534656" y="3086100"/>
            <a:ext cx="27432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51435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51435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51435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51435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51435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51435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51435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51435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51435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51435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2571750"/>
            <a:ext cx="1295400" cy="97155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3650064"/>
            <a:ext cx="641424" cy="481068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4125474"/>
            <a:ext cx="137160" cy="10287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4343400"/>
            <a:ext cx="274320" cy="20574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3359916"/>
            <a:ext cx="365760" cy="27432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51435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3696527"/>
            <a:ext cx="609600" cy="388143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3657600" cy="3429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270248" y="1200150"/>
            <a:ext cx="3657600" cy="3429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7543800" cy="85725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57200" y="1771650"/>
            <a:ext cx="3657600" cy="291465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4371975" y="1771650"/>
            <a:ext cx="3657600" cy="291465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177290"/>
            <a:ext cx="3657600" cy="49377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177290"/>
            <a:ext cx="3657600" cy="49377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4C71EC6-210F-42DE-9C53-41977AD35B3D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51435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4160520" y="2343150"/>
            <a:ext cx="473202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05740"/>
            <a:ext cx="1527048" cy="373761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51435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51435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51435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51435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51435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8156448" y="4286250"/>
            <a:ext cx="548640" cy="41148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Объект 17"/>
          <p:cNvSpPr>
            <a:spLocks noGrp="1"/>
          </p:cNvSpPr>
          <p:nvPr>
            <p:ph sz="quarter" idx="1"/>
          </p:nvPr>
        </p:nvSpPr>
        <p:spPr>
          <a:xfrm>
            <a:off x="304800" y="205740"/>
            <a:ext cx="5638800" cy="4745736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4C71EC6-210F-42DE-9C53-41977AD35B3D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51435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8156448" y="4286250"/>
            <a:ext cx="548640" cy="41148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4138803" y="2343150"/>
            <a:ext cx="473202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51435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198596"/>
            <a:ext cx="1524000" cy="3717036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51435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51435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51435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51435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51435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4C71EC6-210F-42DE-9C53-41977AD35B3D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1676400" cy="4388644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51435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7467600" cy="365531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840980" y="763382"/>
            <a:ext cx="150876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7390236" y="2757210"/>
            <a:ext cx="24003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51435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51435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51435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51435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8156448" y="4286250"/>
            <a:ext cx="548640" cy="41148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4300538"/>
            <a:ext cx="609600" cy="390906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petfinder.my/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3" t="16636" r="34762" b="15377"/>
          <a:stretch/>
        </p:blipFill>
        <p:spPr bwMode="auto">
          <a:xfrm rot="14031165">
            <a:off x="1287872" y="309535"/>
            <a:ext cx="1026110" cy="2196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23478"/>
            <a:ext cx="1335448" cy="12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6911752" y="1407654"/>
            <a:ext cx="22322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1428A0"/>
                </a:solidFill>
                <a:latin typeface="Samsung SS Body Bold" pitchFamily="2" charset="0"/>
                <a:cs typeface="Samsung SS Body Bold" pitchFamily="2" charset="0"/>
              </a:rPr>
              <a:t>Кампус</a:t>
            </a:r>
            <a:endParaRPr lang="en-US" sz="1400" dirty="0">
              <a:solidFill>
                <a:srgbClr val="1428A0"/>
              </a:solidFill>
              <a:latin typeface="Samsung SS Body Bold" pitchFamily="2" charset="0"/>
              <a:cs typeface="Samsung SS Body Bold" pitchFamily="2" charset="0"/>
            </a:endParaRPr>
          </a:p>
          <a:p>
            <a:r>
              <a:rPr lang="ru-RU" sz="1400" dirty="0">
                <a:solidFill>
                  <a:srgbClr val="1428A0"/>
                </a:solidFill>
                <a:latin typeface="Samsung SS Body Bold" pitchFamily="2" charset="0"/>
                <a:cs typeface="Samsung SS Body Bold" pitchFamily="2" charset="0"/>
              </a:rPr>
              <a:t>инноваций </a:t>
            </a:r>
            <a:r>
              <a:rPr lang="en-US" sz="1400" dirty="0">
                <a:solidFill>
                  <a:srgbClr val="1428A0"/>
                </a:solidFill>
                <a:latin typeface="Samsung SS Body Bold" pitchFamily="2" charset="0"/>
                <a:cs typeface="Samsung SS Body Bold" pitchFamily="2" charset="0"/>
              </a:rPr>
              <a:t>Samsung</a:t>
            </a:r>
            <a:endParaRPr lang="ru-RU" sz="1400" dirty="0">
              <a:solidFill>
                <a:srgbClr val="1428A0"/>
              </a:solidFill>
              <a:latin typeface="Samsung SS Body Bold" pitchFamily="2" charset="0"/>
              <a:cs typeface="Samsung SS Body Bold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6219" y="1995686"/>
            <a:ext cx="4732706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по дисциплине: Большие данные</a:t>
            </a:r>
          </a:p>
          <a:p>
            <a:pPr algn="ctr"/>
            <a:r>
              <a:rPr lang="ru-RU" sz="20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 приложение по поиску котов</a:t>
            </a:r>
          </a:p>
          <a:p>
            <a:pPr algn="ctr"/>
            <a:r>
              <a:rPr lang="ru-RU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Ищу Кота.</a:t>
            </a:r>
            <a:endParaRPr lang="ru-RU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0434" y="4029947"/>
            <a:ext cx="371544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Красиева</a:t>
            </a:r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Е.А., Куракин Н.А.</a:t>
            </a:r>
          </a:p>
          <a:p>
            <a:r>
              <a:rPr lang="ru-RU" sz="1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студенты 3 курса 6 группы </a:t>
            </a:r>
          </a:p>
          <a:p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sz="1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акультет прикладной информатики </a:t>
            </a:r>
            <a:r>
              <a:rPr lang="ru-RU" sz="1400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ИВТиПТ</a:t>
            </a:r>
            <a:endParaRPr lang="ru-RU" sz="1400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r>
              <a:rPr lang="ru-RU" sz="1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</a:t>
            </a:r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Петренко О.А</a:t>
            </a:r>
            <a:r>
              <a:rPr lang="ru-RU" sz="1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344396" y="4676277"/>
            <a:ext cx="23207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25.06.2026	Ростов-на-Дону</a:t>
            </a:r>
            <a:endParaRPr lang="ru-RU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875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5696" y="339502"/>
            <a:ext cx="1061864" cy="616108"/>
          </a:xfrm>
        </p:spPr>
        <p:txBody>
          <a:bodyPr>
            <a:norm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69030" y="1671650"/>
            <a:ext cx="6118448" cy="3240360"/>
          </a:xfrm>
        </p:spPr>
        <p:txBody>
          <a:bodyPr>
            <a:normAutofit/>
          </a:bodyPr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Загрузить и очистить </a:t>
            </a:r>
            <a:r>
              <a:rPr lang="ru-RU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</a:t>
            </a:r>
            <a:r>
              <a:rPr lang="ru-RU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PetFinder</a:t>
            </a:r>
            <a:r>
              <a:rPr lang="ru-RU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HDFS с помощью </a:t>
            </a:r>
            <a:r>
              <a:rPr lang="ru-RU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lang="ru-RU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Flume</a:t>
            </a:r>
            <a:r>
              <a:rPr lang="ru-RU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ETL-преобразование данных через </a:t>
            </a:r>
            <a:r>
              <a:rPr lang="ru-RU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lang="ru-RU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Spark</a:t>
            </a:r>
            <a:r>
              <a:rPr lang="ru-RU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Разделить котов на кластеры по характеристикам с помощью </a:t>
            </a:r>
            <a:r>
              <a:rPr lang="ru-RU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lang="ru-RU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рекомендательную систему на основе ALS.</a:t>
            </a:r>
          </a:p>
          <a:p>
            <a:r>
              <a:rPr lang="ru-RU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веб-приложение на </a:t>
            </a:r>
            <a:r>
              <a:rPr lang="ru-RU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поиском и карточками котов.</a:t>
            </a:r>
          </a:p>
          <a:p>
            <a:r>
              <a:rPr lang="ru-RU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Настроить визуализацию через </a:t>
            </a:r>
            <a:r>
              <a:rPr lang="ru-RU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Hue</a:t>
            </a:r>
            <a:r>
              <a:rPr lang="ru-RU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основе </a:t>
            </a:r>
            <a:r>
              <a:rPr lang="ru-RU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Hive</a:t>
            </a:r>
            <a:r>
              <a:rPr lang="ru-RU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-таблиц.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763688" y="915566"/>
            <a:ext cx="69847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приложение для автоматизации подбора и анализа данных о кошках из приюта с использованием инструментов больших данных.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668344" y="123478"/>
            <a:ext cx="925127" cy="2987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2390999" y="2066362"/>
            <a:ext cx="195265" cy="19526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2390999" y="3487094"/>
            <a:ext cx="195265" cy="19526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2382864" y="2614920"/>
            <a:ext cx="195265" cy="19526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2390999" y="2974044"/>
            <a:ext cx="195265" cy="195265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2390999" y="3857460"/>
            <a:ext cx="195265" cy="195265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2390999" y="4445488"/>
            <a:ext cx="195265" cy="19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70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195486"/>
            <a:ext cx="2952328" cy="857250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 descr="Picture background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3" t="16636" r="34762" b="15377"/>
          <a:stretch/>
        </p:blipFill>
        <p:spPr bwMode="auto">
          <a:xfrm rot="10800000">
            <a:off x="229115" y="195486"/>
            <a:ext cx="745390" cy="159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Picture background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3" t="16636" r="34762" b="15377"/>
          <a:stretch/>
        </p:blipFill>
        <p:spPr bwMode="auto">
          <a:xfrm rot="10800000" flipH="1">
            <a:off x="229114" y="1775231"/>
            <a:ext cx="745390" cy="159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691680" y="1280267"/>
            <a:ext cx="581439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современных приютах одновременно находятся сотни животных. Потенциальные хозяева тратят часы на просмотр карточек, а сотрудники не могут быстро предложить лучший вариант из-за отсутствия автоматизации.</a:t>
            </a:r>
            <a:b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проблема — без инструментов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невозможно выявить скрытые закономерности: например, какие факторы (возраст, окрас, наличие фото) замедляют усыновление, а какие ускоряют.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68344" y="123478"/>
            <a:ext cx="925127" cy="2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56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555526"/>
            <a:ext cx="7543800" cy="566762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Выдвигаемые гипотезы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2"/>
          </p:nvPr>
        </p:nvSpPr>
        <p:spPr>
          <a:xfrm>
            <a:off x="755576" y="2139702"/>
            <a:ext cx="3657600" cy="1440160"/>
          </a:xfrm>
        </p:spPr>
        <p:txBody>
          <a:bodyPr>
            <a:normAutofit lnSpcReduction="10000"/>
          </a:bodyPr>
          <a:lstStyle/>
          <a:p>
            <a:r>
              <a:rPr lang="ru-RU" sz="1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 предположили, что визуализация и фильтр качеств кота для каждого пользователя положительно влияет на скорость усыновления.</a:t>
            </a:r>
            <a:endParaRPr lang="ru-RU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quarter" idx="4"/>
          </p:nvPr>
        </p:nvSpPr>
        <p:spPr>
          <a:xfrm>
            <a:off x="4716016" y="2067694"/>
            <a:ext cx="3657600" cy="1584176"/>
          </a:xfrm>
        </p:spPr>
        <p:txBody>
          <a:bodyPr>
            <a:normAutofit/>
          </a:bodyPr>
          <a:lstStyle/>
          <a:p>
            <a:r>
              <a:rPr lang="ru-RU" sz="1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 выдвинули предположение, что некоторые качества напрямую влияют на шанс усыновления того или иного кота.</a:t>
            </a:r>
            <a:endParaRPr lang="ru-RU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"/>
          </p:nvPr>
        </p:nvSpPr>
        <p:spPr>
          <a:xfrm>
            <a:off x="755576" y="1491630"/>
            <a:ext cx="3657600" cy="493776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4716016" y="1491630"/>
            <a:ext cx="3657600" cy="493776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Важные факторы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4" descr="Picture background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3" t="16636" r="34762" b="15377"/>
          <a:stretch/>
        </p:blipFill>
        <p:spPr bwMode="auto">
          <a:xfrm rot="5400000" flipH="1">
            <a:off x="748531" y="3802930"/>
            <a:ext cx="745390" cy="159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icture background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3" t="16636" r="34762" b="15377"/>
          <a:stretch/>
        </p:blipFill>
        <p:spPr bwMode="auto">
          <a:xfrm rot="16200000" flipH="1" flipV="1">
            <a:off x="2476723" y="3803035"/>
            <a:ext cx="745390" cy="159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68344" y="123478"/>
            <a:ext cx="925127" cy="2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44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 flipH="1">
            <a:off x="6503670" y="4732019"/>
            <a:ext cx="45719" cy="4572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296746" y="1275606"/>
            <a:ext cx="2520280" cy="3737610"/>
          </a:xfrm>
        </p:spPr>
        <p:txBody>
          <a:bodyPr>
            <a:noAutofit/>
          </a:bodyPr>
          <a:lstStyle/>
          <a:p>
            <a:r>
              <a:rPr 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Источник:</a:t>
            </a:r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(соревнование 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PetFinder.my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Adoption</a:t>
            </a: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Объём:</a:t>
            </a:r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около 15 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 записей о кошках из приютов.</a:t>
            </a:r>
            <a:b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</a:t>
            </a:r>
            <a:r>
              <a:rPr lang="ru-RU" sz="1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поля:</a:t>
            </a:r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Возраст 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Порода 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Breed</a:t>
            </a: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фотографий (</a:t>
            </a:r>
            <a:r>
              <a:rPr lang="ru-RU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PhotoAmt</a:t>
            </a: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Статус 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стерилизации (</a:t>
            </a:r>
            <a:r>
              <a:rPr lang="ru-RU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Sterilization</a:t>
            </a: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усыновления (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AdoptionSpeed</a:t>
            </a: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переменная (от 0 </a:t>
            </a: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«забрали в день публикации» до </a:t>
            </a:r>
            <a:b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«не усыновлён»).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296746" y="338415"/>
            <a:ext cx="241296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</a:t>
            </a:r>
            <a:endParaRPr lang="en-US" sz="2800" b="1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 </a:t>
            </a:r>
            <a:r>
              <a:rPr lang="ru-RU" sz="28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датасете</a:t>
            </a:r>
            <a:endParaRPr lang="ru-RU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87176"/>
            <a:ext cx="5904656" cy="3517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668344" y="123478"/>
            <a:ext cx="925127" cy="2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339752" y="267494"/>
            <a:ext cx="2286000" cy="616108"/>
          </a:xfrm>
        </p:spPr>
        <p:txBody>
          <a:bodyPr>
            <a:norm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Ход работы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267744" y="987574"/>
            <a:ext cx="5112568" cy="3888432"/>
          </a:xfrm>
        </p:spPr>
        <p:txBody>
          <a:bodyPr>
            <a:normAutofit fontScale="85000" lnSpcReduction="20000"/>
          </a:bodyPr>
          <a:lstStyle/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Загрузка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PetFinder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загружен в HDFS через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Flume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ETL-обработка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Spark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удаление пустых строк и аномалий, добавление колонки 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Kitten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Adult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Senior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приведение типов.</a:t>
            </a: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Кластеризация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Spark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MLlib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все коты разделены на 5 кластеров алгоритмом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признакам (возраст, размер, шерсть, здоровье). Результат сохранён в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Hive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-таблицу 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cats_clustered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Рекомендательная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Spark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MLlib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на основе кластеров сгенерированы синтетические взаимодействия, построена модель ALS, для каждого пользователя выдано 5 рекомендаций. Результат сохранён в 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cat_recommendations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Аналитический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 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Hive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Spark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SQL)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выполнены запросы в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Hue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подсчёт общего числа </a:t>
            </a:r>
            <a:r>
              <a:rPr lang="ru-RU" sz="1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котов, распределение 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возрастам, топ-10 пород, статистика по кластерам.</a:t>
            </a: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Веб-приложение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разработаны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эндпоинты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главная страница с поиском, статистика, поиск по имени/возрасту, рекомендации по ID кота.</a:t>
            </a: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Визуализация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Hue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созданы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дашборды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диаграммами, настроен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Hive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Editor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 Автоматизация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создан скрипт run_all.py, последовательно запускающий все этапы.</a:t>
            </a:r>
          </a:p>
        </p:txBody>
      </p:sp>
      <p:pic>
        <p:nvPicPr>
          <p:cNvPr id="4" name="Picture 4" descr="Picture background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3" t="16636" r="34762" b="15377"/>
          <a:stretch/>
        </p:blipFill>
        <p:spPr bwMode="auto">
          <a:xfrm>
            <a:off x="7596336" y="2283718"/>
            <a:ext cx="745390" cy="159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ture background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3" t="16636" r="34762" b="15377"/>
          <a:stretch/>
        </p:blipFill>
        <p:spPr bwMode="auto">
          <a:xfrm flipH="1">
            <a:off x="7564367" y="688321"/>
            <a:ext cx="745390" cy="159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68344" y="123478"/>
            <a:ext cx="925127" cy="2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6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 flipH="1">
            <a:off x="6503670" y="4732019"/>
            <a:ext cx="45719" cy="4572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00192" y="1131590"/>
            <a:ext cx="2537554" cy="3953634"/>
          </a:xfrm>
        </p:spPr>
        <p:txBody>
          <a:bodyPr>
            <a:normAutofit lnSpcReduction="10000"/>
          </a:bodyPr>
          <a:lstStyle/>
          <a:p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Хранение: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HDFS (распределенное хранение исходных CSV-файлов).</a:t>
            </a:r>
          </a:p>
          <a:p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Загрузка: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Flume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(автоматическая потоковая загрузка в HDFS).</a:t>
            </a:r>
          </a:p>
          <a:p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Обработка: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de-D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(</a:t>
            </a:r>
            <a:r>
              <a:rPr lang="de-DE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de-D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Spark </a:t>
            </a:r>
            <a:r>
              <a:rPr lang="de-DE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MLlib</a:t>
            </a:r>
            <a:r>
              <a:rPr lang="de-D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de-DE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очистка</a:t>
            </a:r>
            <a:r>
              <a:rPr lang="de-D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de-DE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кластеризация</a:t>
            </a:r>
            <a:r>
              <a:rPr lang="de-D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ALS</a:t>
            </a:r>
            <a:r>
              <a:rPr lang="de-DE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результатов: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Hive-</a:t>
            </a:r>
            <a:r>
              <a:rPr lang="ru-RU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таблицы</a:t>
            </a:r>
          </a:p>
          <a:p>
            <a:r>
              <a:rPr lang="ru-RU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Бэкенд</a:t>
            </a:r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/>
              <a:t> </a:t>
            </a: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+ </a:t>
            </a:r>
            <a:r>
              <a:rPr lang="en-US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веб-приложение,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  <a:r>
              <a:rPr 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</a:t>
            </a:r>
            <a:r>
              <a:rPr lang="ru-RU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аналитика</a:t>
            </a:r>
            <a:r>
              <a:rPr lang="ru-RU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/>
              <a:t> </a:t>
            </a:r>
            <a:r>
              <a:rPr 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Hue</a:t>
            </a:r>
            <a:endParaRPr lang="ru-RU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Автоматизация:</a:t>
            </a:r>
            <a:r>
              <a:rPr lang="ru-RU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Python-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скрипт </a:t>
            </a: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run_all.py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единый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00192" y="280660"/>
            <a:ext cx="2537554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</a:t>
            </a:r>
            <a:br>
              <a:rPr lang="ru-RU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работы</a:t>
            </a:r>
          </a:p>
          <a:p>
            <a:endParaRPr lang="ru-RU" b="1" dirty="0">
              <a:solidFill>
                <a:schemeClr val="tx2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668344" y="123478"/>
            <a:ext cx="925127" cy="298763"/>
          </a:xfrm>
          <a:prstGeom prst="rect">
            <a:avLst/>
          </a:prstGeom>
        </p:spPr>
      </p:pic>
      <p:pic>
        <p:nvPicPr>
          <p:cNvPr id="9" name="Объект 8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815436"/>
            <a:ext cx="5638800" cy="3526916"/>
          </a:xfrm>
        </p:spPr>
      </p:pic>
    </p:spTree>
    <p:extLst>
      <p:ext uri="{BB962C8B-B14F-4D97-AF65-F5344CB8AC3E}">
        <p14:creationId xmlns:p14="http://schemas.microsoft.com/office/powerpoint/2010/main" val="373455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23478"/>
            <a:ext cx="7543800" cy="506512"/>
          </a:xfrm>
        </p:spPr>
        <p:txBody>
          <a:bodyPr>
            <a:normAutofit fontScale="90000"/>
          </a:bodyPr>
          <a:lstStyle/>
          <a:p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"/>
          </p:nvPr>
        </p:nvSpPr>
        <p:spPr>
          <a:xfrm>
            <a:off x="467544" y="1347614"/>
            <a:ext cx="3657600" cy="493776"/>
          </a:xfrm>
        </p:spPr>
        <p:txBody>
          <a:bodyPr/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4355976" y="1347614"/>
            <a:ext cx="3657600" cy="493776"/>
          </a:xfrm>
        </p:spPr>
        <p:txBody>
          <a:bodyPr/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поиска с минимальным возрастом в 10 месяцев</a:t>
            </a:r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975" y="1874423"/>
            <a:ext cx="3657600" cy="2709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63793"/>
            <a:ext cx="3657600" cy="27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39552" y="555526"/>
            <a:ext cx="777636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Техническая реализация приложения сделана с помощью </a:t>
            </a: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</a:t>
            </a:r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1400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эндпоинтами</a:t>
            </a:r>
            <a:r>
              <a:rPr lang="ru-RU" sz="1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Были реализованы </a:t>
            </a:r>
          </a:p>
          <a:p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татистика и технологии, поиск с фильтрацией по имени и возрасту, результаты поиска в лице</a:t>
            </a:r>
          </a:p>
          <a:p>
            <a:r>
              <a:rPr lang="ru-RU" sz="1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1400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атрочек</a:t>
            </a:r>
            <a:r>
              <a:rPr lang="ru-RU" sz="1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котиков с их фото и описанием.</a:t>
            </a:r>
          </a:p>
        </p:txBody>
      </p:sp>
    </p:spTree>
    <p:extLst>
      <p:ext uri="{BB962C8B-B14F-4D97-AF65-F5344CB8AC3E}">
        <p14:creationId xmlns:p14="http://schemas.microsoft.com/office/powerpoint/2010/main" val="14208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06500"/>
            <a:ext cx="2602632" cy="771549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 descr="Picture background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3" t="16636" r="34762" b="15377"/>
          <a:stretch/>
        </p:blipFill>
        <p:spPr bwMode="auto">
          <a:xfrm rot="16200000">
            <a:off x="6004132" y="-152144"/>
            <a:ext cx="745390" cy="159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Picture background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3" t="16636" r="34762" b="15377"/>
          <a:stretch/>
        </p:blipFill>
        <p:spPr bwMode="auto">
          <a:xfrm rot="5400000" flipV="1">
            <a:off x="4435028" y="-135460"/>
            <a:ext cx="745390" cy="159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395536" y="1203598"/>
            <a:ext cx="3888432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</a:t>
            </a:r>
            <a:r>
              <a:rPr lang="ru-RU" sz="1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Hive</a:t>
            </a:r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-таблиц в </a:t>
            </a:r>
            <a:r>
              <a:rPr lang="ru-RU" sz="1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Hue</a:t>
            </a:r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реализованы</a:t>
            </a:r>
            <a:r>
              <a:rPr lang="ru-RU" sz="1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ru-RU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Browser</a:t>
            </a:r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просмотр файлов в HDFS.</a:t>
            </a:r>
          </a:p>
          <a:p>
            <a:r>
              <a:rPr lang="ru-RU" sz="1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Hive</a:t>
            </a:r>
            <a:r>
              <a:rPr 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Editor</a:t>
            </a:r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выполнение SQL-запросов к таблицам (</a:t>
            </a:r>
            <a:r>
              <a:rPr lang="ru-RU" sz="1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cats_raw</a:t>
            </a:r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sz="1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cats_enriched</a:t>
            </a:r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sz="1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cats_clustered</a:t>
            </a:r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sz="1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cat_recommendations</a:t>
            </a:r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sz="1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визуализация результатов запросов в виде столбчатых и круговых диаграмм (распределение по возрастам, кластерам, топ пород).</a:t>
            </a:r>
          </a:p>
          <a:p>
            <a:r>
              <a:rPr lang="ru-RU" sz="1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ru-RU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r>
              <a:rPr lang="ru-RU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сохранённая история запросов для демонстрации на защите.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68344" y="123478"/>
            <a:ext cx="925127" cy="298763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5089" y="1034934"/>
            <a:ext cx="4266209" cy="1813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8" y="2843077"/>
            <a:ext cx="4152389" cy="2072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340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63688" y="195486"/>
            <a:ext cx="1493912" cy="544100"/>
          </a:xfrm>
        </p:spPr>
        <p:txBody>
          <a:bodyPr>
            <a:norm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55776" y="807554"/>
            <a:ext cx="5688632" cy="3240360"/>
          </a:xfrm>
        </p:spPr>
        <p:txBody>
          <a:bodyPr>
            <a:no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гипотез: 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самая быстрая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усыновляемость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котят и стерилизованных животных. Наличие фото увеличивает скорость усыновления. Выявлены породы-лидеры по скорости усыновления.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Автоматизация: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создан ETL-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позволяет за секунды обрабатывать тысячи записей, заменяя часы ручной работы сотрудников.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Кластеризация: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коты разделены на 5 кластеров по характеристикам с помощью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Рекомендательная система: 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построена модель ALS, для каждого пользователя сгенерировано 5 рекомендаций.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Веб-приложение: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разработан интерфейс на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поиском по имени, возрасту и породе, карточками котов и рекомендациями.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ценность: 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позволяет моментально рекомендовать кандидатов из приюта, а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дашборды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Hue</a:t>
            </a:r>
            <a:r>
              <a:rPr lang="ru-RU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дают сотрудникам возможность видеть статистику и принимать решения на основе данных.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668344" y="123478"/>
            <a:ext cx="925127" cy="29876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2281637" y="843558"/>
            <a:ext cx="265390" cy="26539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2281637" y="1563638"/>
            <a:ext cx="265390" cy="26539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2281637" y="2280881"/>
            <a:ext cx="265390" cy="26539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2281637" y="2763699"/>
            <a:ext cx="265390" cy="26539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2281637" y="3291830"/>
            <a:ext cx="265390" cy="26539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2281637" y="3795886"/>
            <a:ext cx="265390" cy="26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76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1719" y="843558"/>
            <a:ext cx="4804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sz="36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https://i.pinimg.com/736x/b9/fe/ff/b9feffae21f658b4beb49072ca9b850a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2" t="28479" r="10116" b="25250"/>
          <a:stretch/>
        </p:blipFill>
        <p:spPr bwMode="auto">
          <a:xfrm>
            <a:off x="4860032" y="1818168"/>
            <a:ext cx="2151570" cy="2265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2" r="10365"/>
          <a:stretch/>
        </p:blipFill>
        <p:spPr bwMode="auto">
          <a:xfrm flipH="1">
            <a:off x="1763688" y="1818168"/>
            <a:ext cx="2817096" cy="2265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6" t="10893" r="7919" b="19304"/>
          <a:stretch/>
        </p:blipFill>
        <p:spPr bwMode="auto">
          <a:xfrm rot="5928919">
            <a:off x="769795" y="381833"/>
            <a:ext cx="1214197" cy="92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894724" y="51602"/>
            <a:ext cx="1789664" cy="223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43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Эркер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253</TotalTime>
  <Words>380</Words>
  <Application>Microsoft Office PowerPoint</Application>
  <PresentationFormat>Экран (16:9)</PresentationFormat>
  <Paragraphs>67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Эркер</vt:lpstr>
      <vt:lpstr>Презентация PowerPoint</vt:lpstr>
      <vt:lpstr>Цель</vt:lpstr>
      <vt:lpstr>Актуальность</vt:lpstr>
      <vt:lpstr>Выдвигаемые гипотезы</vt:lpstr>
      <vt:lpstr>Презентация PowerPoint</vt:lpstr>
      <vt:lpstr>Ход работы</vt:lpstr>
      <vt:lpstr>Презентация PowerPoint</vt:lpstr>
      <vt:lpstr>Визуализация</vt:lpstr>
      <vt:lpstr>Визуализация</vt:lpstr>
      <vt:lpstr>Вывод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32</cp:revision>
  <dcterms:created xsi:type="dcterms:W3CDTF">2026-06-21T09:35:46Z</dcterms:created>
  <dcterms:modified xsi:type="dcterms:W3CDTF">2026-06-24T12:31:35Z</dcterms:modified>
</cp:coreProperties>
</file>