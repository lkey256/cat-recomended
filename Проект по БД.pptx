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  <p:sldId id="265" r:id="rId12"/>
  </p:sldIdLst>
  <p:sldSz cx="9144000" cy="5143500" type="screen16x9"/>
  <p:notesSz cx="9144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5" d="100"/>
          <a:sy n="115" d="100"/>
        </p:scale>
        <p:origin x="149" y="67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2286000" y="2343150"/>
            <a:ext cx="6172200" cy="142077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286000" y="3752492"/>
            <a:ext cx="6172200" cy="10287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8050371" y="832948"/>
            <a:ext cx="1714500" cy="381000"/>
          </a:xfrm>
        </p:spPr>
        <p:txBody>
          <a:bodyPr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534469" y="3088246"/>
            <a:ext cx="2743200" cy="384048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Прямоугольник 9"/>
          <p:cNvSpPr/>
          <p:nvPr/>
        </p:nvSpPr>
        <p:spPr bwMode="auto">
          <a:xfrm>
            <a:off x="381000" y="0"/>
            <a:ext cx="609600" cy="51435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276336" y="0"/>
            <a:ext cx="104664" cy="51435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Прямоугольник 13"/>
          <p:cNvSpPr/>
          <p:nvPr/>
        </p:nvSpPr>
        <p:spPr bwMode="auto">
          <a:xfrm>
            <a:off x="990600" y="0"/>
            <a:ext cx="181872" cy="51435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Прямоугольник 18"/>
          <p:cNvSpPr/>
          <p:nvPr/>
        </p:nvSpPr>
        <p:spPr bwMode="auto">
          <a:xfrm>
            <a:off x="1141320" y="0"/>
            <a:ext cx="230280" cy="51435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ая соединительная линия 10"/>
          <p:cNvSpPr>
            <a:spLocks noChangeShapeType="1"/>
          </p:cNvSpPr>
          <p:nvPr/>
        </p:nvSpPr>
        <p:spPr bwMode="auto">
          <a:xfrm>
            <a:off x="106344" y="0"/>
            <a:ext cx="0" cy="51435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Прямая соединительная линия 17"/>
          <p:cNvSpPr>
            <a:spLocks noChangeShapeType="1"/>
          </p:cNvSpPr>
          <p:nvPr/>
        </p:nvSpPr>
        <p:spPr bwMode="auto">
          <a:xfrm>
            <a:off x="914400" y="0"/>
            <a:ext cx="0" cy="51435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Прямая соединительная линия 19"/>
          <p:cNvSpPr>
            <a:spLocks noChangeShapeType="1"/>
          </p:cNvSpPr>
          <p:nvPr/>
        </p:nvSpPr>
        <p:spPr bwMode="auto">
          <a:xfrm>
            <a:off x="854112" y="0"/>
            <a:ext cx="0" cy="51435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Прямая соединительная линия 15"/>
          <p:cNvSpPr>
            <a:spLocks noChangeShapeType="1"/>
          </p:cNvSpPr>
          <p:nvPr/>
        </p:nvSpPr>
        <p:spPr bwMode="auto">
          <a:xfrm>
            <a:off x="1726640" y="0"/>
            <a:ext cx="0" cy="51435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Прямая соединительная линия 14"/>
          <p:cNvSpPr>
            <a:spLocks noChangeShapeType="1"/>
          </p:cNvSpPr>
          <p:nvPr/>
        </p:nvSpPr>
        <p:spPr bwMode="auto">
          <a:xfrm>
            <a:off x="1066800" y="0"/>
            <a:ext cx="0" cy="51435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Прямая соединительная линия 21"/>
          <p:cNvSpPr>
            <a:spLocks noChangeShapeType="1"/>
          </p:cNvSpPr>
          <p:nvPr/>
        </p:nvSpPr>
        <p:spPr bwMode="auto">
          <a:xfrm>
            <a:off x="9113856" y="0"/>
            <a:ext cx="0" cy="51435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Прямоугольник 26"/>
          <p:cNvSpPr/>
          <p:nvPr/>
        </p:nvSpPr>
        <p:spPr bwMode="auto">
          <a:xfrm>
            <a:off x="1219200" y="0"/>
            <a:ext cx="76200" cy="51435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Овал 20"/>
          <p:cNvSpPr/>
          <p:nvPr/>
        </p:nvSpPr>
        <p:spPr bwMode="auto">
          <a:xfrm>
            <a:off x="609600" y="2571750"/>
            <a:ext cx="1295400" cy="97155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Овал 22"/>
          <p:cNvSpPr/>
          <p:nvPr/>
        </p:nvSpPr>
        <p:spPr bwMode="auto">
          <a:xfrm>
            <a:off x="1309632" y="3650064"/>
            <a:ext cx="641424" cy="481068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Овал 23"/>
          <p:cNvSpPr/>
          <p:nvPr/>
        </p:nvSpPr>
        <p:spPr bwMode="auto">
          <a:xfrm>
            <a:off x="1091080" y="4125474"/>
            <a:ext cx="137160" cy="10287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Овал 25"/>
          <p:cNvSpPr/>
          <p:nvPr/>
        </p:nvSpPr>
        <p:spPr bwMode="auto">
          <a:xfrm>
            <a:off x="1664208" y="4341114"/>
            <a:ext cx="274320" cy="20574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Овал 24"/>
          <p:cNvSpPr/>
          <p:nvPr/>
        </p:nvSpPr>
        <p:spPr>
          <a:xfrm>
            <a:off x="1905000" y="3371850"/>
            <a:ext cx="365760" cy="27432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3696527"/>
            <a:ext cx="609600" cy="388143"/>
          </a:xfrm>
        </p:spPr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8" name="Объект 7"/>
          <p:cNvSpPr>
            <a:spLocks noGrp="1"/>
          </p:cNvSpPr>
          <p:nvPr>
            <p:ph sz="quarter" idx="1"/>
          </p:nvPr>
        </p:nvSpPr>
        <p:spPr>
          <a:xfrm>
            <a:off x="457200" y="1200150"/>
            <a:ext cx="7467600" cy="3655314"/>
          </a:xfrm>
        </p:spPr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0" y="2171700"/>
            <a:ext cx="6172200" cy="1540193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286000" y="3757613"/>
            <a:ext cx="6172200" cy="10287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8049006" y="830199"/>
            <a:ext cx="1714500" cy="381000"/>
          </a:xfrm>
        </p:spPr>
        <p:txBody>
          <a:bodyPr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534656" y="3086100"/>
            <a:ext cx="2743200" cy="384048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Прямоугольник 8"/>
          <p:cNvSpPr/>
          <p:nvPr/>
        </p:nvSpPr>
        <p:spPr bwMode="auto">
          <a:xfrm>
            <a:off x="381000" y="0"/>
            <a:ext cx="609600" cy="51435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 bwMode="auto">
          <a:xfrm>
            <a:off x="276336" y="0"/>
            <a:ext cx="104664" cy="51435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 bwMode="auto">
          <a:xfrm>
            <a:off x="990600" y="0"/>
            <a:ext cx="181872" cy="51435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1141320" y="0"/>
            <a:ext cx="230280" cy="51435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Прямая соединительная линия 12"/>
          <p:cNvSpPr>
            <a:spLocks noChangeShapeType="1"/>
          </p:cNvSpPr>
          <p:nvPr/>
        </p:nvSpPr>
        <p:spPr bwMode="auto">
          <a:xfrm>
            <a:off x="106344" y="0"/>
            <a:ext cx="0" cy="51435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Прямая соединительная линия 13"/>
          <p:cNvSpPr>
            <a:spLocks noChangeShapeType="1"/>
          </p:cNvSpPr>
          <p:nvPr/>
        </p:nvSpPr>
        <p:spPr bwMode="auto">
          <a:xfrm>
            <a:off x="914400" y="0"/>
            <a:ext cx="0" cy="51435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Прямая соединительная линия 14"/>
          <p:cNvSpPr>
            <a:spLocks noChangeShapeType="1"/>
          </p:cNvSpPr>
          <p:nvPr/>
        </p:nvSpPr>
        <p:spPr bwMode="auto">
          <a:xfrm>
            <a:off x="854112" y="0"/>
            <a:ext cx="0" cy="51435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Прямая соединительная линия 15"/>
          <p:cNvSpPr>
            <a:spLocks noChangeShapeType="1"/>
          </p:cNvSpPr>
          <p:nvPr/>
        </p:nvSpPr>
        <p:spPr bwMode="auto">
          <a:xfrm>
            <a:off x="1726640" y="0"/>
            <a:ext cx="0" cy="51435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Прямая соединительная линия 16"/>
          <p:cNvSpPr>
            <a:spLocks noChangeShapeType="1"/>
          </p:cNvSpPr>
          <p:nvPr/>
        </p:nvSpPr>
        <p:spPr bwMode="auto">
          <a:xfrm>
            <a:off x="1066800" y="0"/>
            <a:ext cx="0" cy="51435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Прямоугольник 17"/>
          <p:cNvSpPr/>
          <p:nvPr/>
        </p:nvSpPr>
        <p:spPr bwMode="auto">
          <a:xfrm>
            <a:off x="1219200" y="0"/>
            <a:ext cx="76200" cy="51435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Овал 18"/>
          <p:cNvSpPr/>
          <p:nvPr/>
        </p:nvSpPr>
        <p:spPr bwMode="auto">
          <a:xfrm>
            <a:off x="609600" y="2571750"/>
            <a:ext cx="1295400" cy="97155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Овал 19"/>
          <p:cNvSpPr/>
          <p:nvPr/>
        </p:nvSpPr>
        <p:spPr bwMode="auto">
          <a:xfrm>
            <a:off x="1324704" y="3650064"/>
            <a:ext cx="641424" cy="481068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Овал 20"/>
          <p:cNvSpPr/>
          <p:nvPr/>
        </p:nvSpPr>
        <p:spPr bwMode="auto">
          <a:xfrm>
            <a:off x="1091080" y="4125474"/>
            <a:ext cx="137160" cy="10287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Овал 21"/>
          <p:cNvSpPr/>
          <p:nvPr/>
        </p:nvSpPr>
        <p:spPr bwMode="auto">
          <a:xfrm>
            <a:off x="1664208" y="4343400"/>
            <a:ext cx="274320" cy="20574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Овал 22"/>
          <p:cNvSpPr/>
          <p:nvPr/>
        </p:nvSpPr>
        <p:spPr bwMode="auto">
          <a:xfrm>
            <a:off x="1879040" y="3359916"/>
            <a:ext cx="365760" cy="27432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Прямая соединительная линия 25"/>
          <p:cNvSpPr>
            <a:spLocks noChangeShapeType="1"/>
          </p:cNvSpPr>
          <p:nvPr/>
        </p:nvSpPr>
        <p:spPr bwMode="auto">
          <a:xfrm>
            <a:off x="9097944" y="0"/>
            <a:ext cx="0" cy="51435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3696527"/>
            <a:ext cx="609600" cy="388143"/>
          </a:xfrm>
        </p:spPr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9" name="Объект 8"/>
          <p:cNvSpPr>
            <a:spLocks noGrp="1"/>
          </p:cNvSpPr>
          <p:nvPr>
            <p:ph sz="quarter" idx="1"/>
          </p:nvPr>
        </p:nvSpPr>
        <p:spPr>
          <a:xfrm>
            <a:off x="457200" y="1200150"/>
            <a:ext cx="3657600" cy="3429000"/>
          </a:xfrm>
        </p:spPr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11" name="Объект 10"/>
          <p:cNvSpPr>
            <a:spLocks noGrp="1"/>
          </p:cNvSpPr>
          <p:nvPr>
            <p:ph sz="quarter" idx="2"/>
          </p:nvPr>
        </p:nvSpPr>
        <p:spPr>
          <a:xfrm>
            <a:off x="4270248" y="1200150"/>
            <a:ext cx="3657600" cy="3429000"/>
          </a:xfrm>
        </p:spPr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7543800" cy="85725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Объект 10"/>
          <p:cNvSpPr>
            <a:spLocks noGrp="1"/>
          </p:cNvSpPr>
          <p:nvPr>
            <p:ph sz="quarter" idx="2"/>
          </p:nvPr>
        </p:nvSpPr>
        <p:spPr>
          <a:xfrm>
            <a:off x="457200" y="1771650"/>
            <a:ext cx="3657600" cy="2914650"/>
          </a:xfrm>
        </p:spPr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13" name="Объект 12"/>
          <p:cNvSpPr>
            <a:spLocks noGrp="1"/>
          </p:cNvSpPr>
          <p:nvPr>
            <p:ph sz="quarter" idx="4"/>
          </p:nvPr>
        </p:nvSpPr>
        <p:spPr>
          <a:xfrm>
            <a:off x="4371975" y="1771650"/>
            <a:ext cx="3657600" cy="2914650"/>
          </a:xfrm>
        </p:spPr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1"/>
          </p:nvPr>
        </p:nvSpPr>
        <p:spPr>
          <a:xfrm>
            <a:off x="457200" y="1177290"/>
            <a:ext cx="3657600" cy="493776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14" name="Текст 13"/>
          <p:cNvSpPr>
            <a:spLocks noGrp="1"/>
          </p:cNvSpPr>
          <p:nvPr>
            <p:ph type="body" sz="quarter" idx="3"/>
          </p:nvPr>
        </p:nvSpPr>
        <p:spPr>
          <a:xfrm>
            <a:off x="4343400" y="1177290"/>
            <a:ext cx="3657600" cy="493776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6" name="Дата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ая соединительная линия 9"/>
          <p:cNvSpPr>
            <a:spLocks noChangeShapeType="1"/>
          </p:cNvSpPr>
          <p:nvPr/>
        </p:nvSpPr>
        <p:spPr bwMode="auto">
          <a:xfrm>
            <a:off x="8763000" y="0"/>
            <a:ext cx="0" cy="51435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rot="5400000">
            <a:off x="4160520" y="2343150"/>
            <a:ext cx="473202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6812280" y="205740"/>
            <a:ext cx="1527048" cy="373761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8" name="Прямая соединительная линия 7"/>
          <p:cNvSpPr>
            <a:spLocks noChangeShapeType="1"/>
          </p:cNvSpPr>
          <p:nvPr/>
        </p:nvSpPr>
        <p:spPr bwMode="auto">
          <a:xfrm>
            <a:off x="6248400" y="0"/>
            <a:ext cx="0" cy="51435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Прямая соединительная линия 8"/>
          <p:cNvSpPr>
            <a:spLocks noChangeShapeType="1"/>
          </p:cNvSpPr>
          <p:nvPr/>
        </p:nvSpPr>
        <p:spPr bwMode="auto">
          <a:xfrm>
            <a:off x="6192296" y="0"/>
            <a:ext cx="0" cy="51435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Прямая соединительная линия 10"/>
          <p:cNvSpPr>
            <a:spLocks noChangeShapeType="1"/>
          </p:cNvSpPr>
          <p:nvPr/>
        </p:nvSpPr>
        <p:spPr bwMode="auto">
          <a:xfrm>
            <a:off x="8991600" y="0"/>
            <a:ext cx="0" cy="51435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8839200" y="0"/>
            <a:ext cx="304800" cy="51435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Прямая соединительная линия 12"/>
          <p:cNvSpPr>
            <a:spLocks noChangeShapeType="1"/>
          </p:cNvSpPr>
          <p:nvPr/>
        </p:nvSpPr>
        <p:spPr bwMode="auto">
          <a:xfrm>
            <a:off x="8915400" y="0"/>
            <a:ext cx="0" cy="51435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Овал 13"/>
          <p:cNvSpPr/>
          <p:nvPr/>
        </p:nvSpPr>
        <p:spPr>
          <a:xfrm>
            <a:off x="8156448" y="4286250"/>
            <a:ext cx="548640" cy="41148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Объект 17"/>
          <p:cNvSpPr>
            <a:spLocks noGrp="1"/>
          </p:cNvSpPr>
          <p:nvPr>
            <p:ph sz="quarter" idx="1"/>
          </p:nvPr>
        </p:nvSpPr>
        <p:spPr>
          <a:xfrm>
            <a:off x="304800" y="205740"/>
            <a:ext cx="5638800" cy="4745736"/>
          </a:xfrm>
        </p:spPr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21" name="Дата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23" name="Нижний колонтитул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ая соединительная линия 8"/>
          <p:cNvSpPr>
            <a:spLocks noChangeShapeType="1"/>
          </p:cNvSpPr>
          <p:nvPr/>
        </p:nvSpPr>
        <p:spPr bwMode="auto">
          <a:xfrm>
            <a:off x="8763000" y="0"/>
            <a:ext cx="0" cy="51435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Овал 12"/>
          <p:cNvSpPr/>
          <p:nvPr/>
        </p:nvSpPr>
        <p:spPr>
          <a:xfrm>
            <a:off x="8156448" y="4286250"/>
            <a:ext cx="548640" cy="41148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rot="5400000">
            <a:off x="4138803" y="2343150"/>
            <a:ext cx="473202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51435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ru-RU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765798" y="198596"/>
            <a:ext cx="1524000" cy="3717036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10" name="Прямая соединительная линия 9"/>
          <p:cNvSpPr>
            <a:spLocks noChangeShapeType="1"/>
          </p:cNvSpPr>
          <p:nvPr/>
        </p:nvSpPr>
        <p:spPr bwMode="auto">
          <a:xfrm>
            <a:off x="8991600" y="0"/>
            <a:ext cx="0" cy="51435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 bwMode="auto">
          <a:xfrm>
            <a:off x="8839200" y="0"/>
            <a:ext cx="304800" cy="51435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ая соединительная линия 11"/>
          <p:cNvSpPr>
            <a:spLocks noChangeShapeType="1"/>
          </p:cNvSpPr>
          <p:nvPr/>
        </p:nvSpPr>
        <p:spPr bwMode="auto">
          <a:xfrm>
            <a:off x="8915400" y="0"/>
            <a:ext cx="0" cy="51435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Прямая соединительная линия 18"/>
          <p:cNvSpPr>
            <a:spLocks noChangeShapeType="1"/>
          </p:cNvSpPr>
          <p:nvPr/>
        </p:nvSpPr>
        <p:spPr bwMode="auto">
          <a:xfrm>
            <a:off x="6248400" y="0"/>
            <a:ext cx="0" cy="51435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Прямая соединительная линия 19"/>
          <p:cNvSpPr>
            <a:spLocks noChangeShapeType="1"/>
          </p:cNvSpPr>
          <p:nvPr/>
        </p:nvSpPr>
        <p:spPr bwMode="auto">
          <a:xfrm>
            <a:off x="6192296" y="0"/>
            <a:ext cx="0" cy="51435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Дата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21" name="Нижний колонтитул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1676400" cy="4388644"/>
          </a:xfrm>
        </p:spPr>
        <p:txBody>
          <a:bodyPr vert="eaVert"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ая соединительная линия 15"/>
          <p:cNvSpPr>
            <a:spLocks noChangeShapeType="1"/>
          </p:cNvSpPr>
          <p:nvPr/>
        </p:nvSpPr>
        <p:spPr bwMode="auto">
          <a:xfrm>
            <a:off x="8763000" y="0"/>
            <a:ext cx="0" cy="51435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05979"/>
            <a:ext cx="7467600" cy="85725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7467600" cy="3655314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/>
              <a:t>Образец текста</a:t>
            </a:r>
          </a:p>
          <a:p>
            <a:pPr lvl="1" eaLnBrk="1" latinLnBrk="0" hangingPunct="1"/>
            <a:r>
              <a:rPr kumimoji="0" lang="ru-RU"/>
              <a:t>Второй уровень</a:t>
            </a:r>
          </a:p>
          <a:p>
            <a:pPr lvl="2" eaLnBrk="1" latinLnBrk="0" hangingPunct="1"/>
            <a:r>
              <a:rPr kumimoji="0" lang="ru-RU"/>
              <a:t>Третий уровень</a:t>
            </a:r>
          </a:p>
          <a:p>
            <a:pPr lvl="3" eaLnBrk="1" latinLnBrk="0" hangingPunct="1"/>
            <a:r>
              <a:rPr kumimoji="0" lang="ru-RU"/>
              <a:t>Четвертый уровень</a:t>
            </a:r>
          </a:p>
          <a:p>
            <a:pPr lvl="4" eaLnBrk="1" latinLnBrk="0" hangingPunct="1"/>
            <a:r>
              <a:rPr kumimoji="0" lang="ru-RU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 rot="5400000">
            <a:off x="7840980" y="763382"/>
            <a:ext cx="150876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 rot="5400000">
            <a:off x="7390236" y="2757210"/>
            <a:ext cx="24003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Прямая соединительная линия 6"/>
          <p:cNvSpPr>
            <a:spLocks noChangeShapeType="1"/>
          </p:cNvSpPr>
          <p:nvPr/>
        </p:nvSpPr>
        <p:spPr bwMode="auto">
          <a:xfrm>
            <a:off x="76200" y="0"/>
            <a:ext cx="0" cy="51435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Прямая соединительная линия 8"/>
          <p:cNvSpPr>
            <a:spLocks noChangeShapeType="1"/>
          </p:cNvSpPr>
          <p:nvPr/>
        </p:nvSpPr>
        <p:spPr bwMode="auto">
          <a:xfrm>
            <a:off x="8991600" y="0"/>
            <a:ext cx="0" cy="51435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 bwMode="auto">
          <a:xfrm>
            <a:off x="8839200" y="0"/>
            <a:ext cx="304800" cy="51435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ая соединительная линия 10"/>
          <p:cNvSpPr>
            <a:spLocks noChangeShapeType="1"/>
          </p:cNvSpPr>
          <p:nvPr/>
        </p:nvSpPr>
        <p:spPr bwMode="auto">
          <a:xfrm>
            <a:off x="8915400" y="0"/>
            <a:ext cx="0" cy="51435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Овал 11"/>
          <p:cNvSpPr/>
          <p:nvPr/>
        </p:nvSpPr>
        <p:spPr>
          <a:xfrm>
            <a:off x="8156448" y="4286250"/>
            <a:ext cx="548640" cy="41148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129016" y="4300538"/>
            <a:ext cx="609600" cy="390906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petfinder.my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rot="14031165">
            <a:off x="1287872" y="309535"/>
            <a:ext cx="1026110" cy="2196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123478"/>
            <a:ext cx="1335448" cy="12841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6911752" y="1407654"/>
            <a:ext cx="223224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1428A0"/>
                </a:solidFill>
                <a:latin typeface="Samsung SS Body Bold" pitchFamily="2" charset="0"/>
                <a:cs typeface="Samsung SS Body Bold" pitchFamily="2" charset="0"/>
              </a:rPr>
              <a:t>Кампус</a:t>
            </a:r>
            <a:endParaRPr lang="en-US" sz="1400" dirty="0">
              <a:solidFill>
                <a:srgbClr val="1428A0"/>
              </a:solidFill>
              <a:latin typeface="Samsung SS Body Bold" pitchFamily="2" charset="0"/>
              <a:cs typeface="Samsung SS Body Bold" pitchFamily="2" charset="0"/>
            </a:endParaRPr>
          </a:p>
          <a:p>
            <a:r>
              <a:rPr lang="ru-RU" sz="1400" dirty="0">
                <a:solidFill>
                  <a:srgbClr val="1428A0"/>
                </a:solidFill>
                <a:latin typeface="Samsung SS Body Bold" pitchFamily="2" charset="0"/>
                <a:cs typeface="Samsung SS Body Bold" pitchFamily="2" charset="0"/>
              </a:rPr>
              <a:t>инноваций </a:t>
            </a:r>
            <a:r>
              <a:rPr lang="en-US" sz="1400" dirty="0">
                <a:solidFill>
                  <a:srgbClr val="1428A0"/>
                </a:solidFill>
                <a:latin typeface="Samsung SS Body Bold" pitchFamily="2" charset="0"/>
                <a:cs typeface="Samsung SS Body Bold" pitchFamily="2" charset="0"/>
              </a:rPr>
              <a:t>Samsung</a:t>
            </a:r>
            <a:endParaRPr lang="ru-RU" sz="1400" dirty="0">
              <a:solidFill>
                <a:srgbClr val="1428A0"/>
              </a:solidFill>
              <a:latin typeface="Samsung SS Body Bold" pitchFamily="2" charset="0"/>
              <a:cs typeface="Samsung SS Body Bold" pitchFamily="2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6219" y="1995686"/>
            <a:ext cx="4732706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по дисциплине: Большие данные</a:t>
            </a:r>
          </a:p>
          <a:p>
            <a:pPr algn="ctr"/>
            <a:r>
              <a:rPr lang="ru-RU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тему: приложение по поиску котов</a:t>
            </a:r>
          </a:p>
          <a:p>
            <a:pPr algn="ctr"/>
            <a:r>
              <a:rPr lang="ru-RU" sz="2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Ищу Кота.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434" y="4029947"/>
            <a:ext cx="371544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Красиева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Е.А., Куракин Н.А.</a:t>
            </a:r>
          </a:p>
          <a:p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студенты 3 курса 6 группы </a:t>
            </a:r>
          </a:p>
          <a:p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факультет прикладной информатики 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ИВТиПТ</a:t>
            </a:r>
            <a:endParaRPr lang="ru-RU" sz="1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доцент кафедры Петренко О.А.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344396" y="4676277"/>
            <a:ext cx="23207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25.06.2026	Ростов-на-Дону</a:t>
            </a:r>
          </a:p>
        </p:txBody>
      </p:sp>
    </p:spTree>
    <p:extLst>
      <p:ext uri="{BB962C8B-B14F-4D97-AF65-F5344CB8AC3E}">
        <p14:creationId xmlns:p14="http://schemas.microsoft.com/office/powerpoint/2010/main" val="1563875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835696" y="339502"/>
            <a:ext cx="1061864" cy="616108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69030" y="1671650"/>
            <a:ext cx="6118448" cy="3240360"/>
          </a:xfrm>
        </p:spPr>
        <p:txBody>
          <a:bodyPr>
            <a:norm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ru-RU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Загрузить и очистить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PetFinder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HDFS с помощью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Apache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ETL-преобразование данных через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Apache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Разделить котов на кластеры по характеристикам с помощью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KMeans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рекомендательную систему на основе ALS.</a:t>
            </a:r>
          </a:p>
          <a:p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веб-приложение на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поиском и карточками котов.</a:t>
            </a:r>
          </a:p>
          <a:p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Настроить визуализацию через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Hue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основе </a:t>
            </a:r>
            <a:r>
              <a:rPr lang="ru-RU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-таблиц.</a:t>
            </a:r>
          </a:p>
          <a:p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1763688" y="915566"/>
            <a:ext cx="69847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приложение для автоматизации подбора и анализа данных о кошках из приюта с использованием инструментов больших данных.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390999" y="2066362"/>
            <a:ext cx="195265" cy="19526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390999" y="3487094"/>
            <a:ext cx="195265" cy="195265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382864" y="2614920"/>
            <a:ext cx="195265" cy="19526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390999" y="2974044"/>
            <a:ext cx="195265" cy="195265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390999" y="3857460"/>
            <a:ext cx="195265" cy="195265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390999" y="4445488"/>
            <a:ext cx="195265" cy="19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709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15616" y="195486"/>
            <a:ext cx="2952328" cy="857250"/>
          </a:xfrm>
        </p:spPr>
        <p:txBody>
          <a:bodyPr>
            <a:norm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pic>
        <p:nvPicPr>
          <p:cNvPr id="3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rot="10800000">
            <a:off x="229115" y="195486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rot="10800000" flipH="1">
            <a:off x="229114" y="1775231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1691680" y="1280267"/>
            <a:ext cx="5814392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современных приютах одновременно находятся сотни животных. Потенциальные хозяева тратят часы на просмотр карточек, а сотрудники не могут быстро предложить лучший вариант из-за отсутствия автоматизации.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проблема — без инструментов 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Big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невозможно выявить скрытые закономерности: например, какие факторы (возраст, окрас, наличие фото) замедляют усыновление, а какие ускоряют.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569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55576" y="555526"/>
            <a:ext cx="7543800" cy="566762"/>
          </a:xfrm>
        </p:spPr>
        <p:txBody>
          <a:bodyPr>
            <a:norm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Выдвигаемые гипотезы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quarter" idx="2"/>
          </p:nvPr>
        </p:nvSpPr>
        <p:spPr>
          <a:xfrm>
            <a:off x="755576" y="2139702"/>
            <a:ext cx="3657600" cy="1440160"/>
          </a:xfrm>
        </p:spPr>
        <p:txBody>
          <a:bodyPr>
            <a:normAutofit lnSpcReduction="10000"/>
          </a:bodyPr>
          <a:lstStyle/>
          <a:p>
            <a:r>
              <a:rPr lang="ru-RU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Мы предположили, что визуализация и фильтр качеств кота для каждого пользователя положительно влияет на скорость усыновления.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quarter" idx="4"/>
          </p:nvPr>
        </p:nvSpPr>
        <p:spPr>
          <a:xfrm>
            <a:off x="4716016" y="2067694"/>
            <a:ext cx="3657600" cy="1584176"/>
          </a:xfrm>
        </p:spPr>
        <p:txBody>
          <a:bodyPr>
            <a:normAutofit/>
          </a:bodyPr>
          <a:lstStyle/>
          <a:p>
            <a:r>
              <a:rPr lang="ru-RU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Мы выдвинули предположение, что некоторые качества напрямую влияют на шанс усыновления того или иного кота.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"/>
          </p:nvPr>
        </p:nvSpPr>
        <p:spPr>
          <a:xfrm>
            <a:off x="755576" y="1491630"/>
            <a:ext cx="3657600" cy="493776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Рекомендации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3"/>
          </p:nvPr>
        </p:nvSpPr>
        <p:spPr>
          <a:xfrm>
            <a:off x="4716016" y="1491630"/>
            <a:ext cx="3657600" cy="493776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Важные факторы</a:t>
            </a:r>
          </a:p>
        </p:txBody>
      </p:sp>
      <p:pic>
        <p:nvPicPr>
          <p:cNvPr id="7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rot="5400000" flipH="1">
            <a:off x="748531" y="3802930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rot="16200000" flipH="1" flipV="1">
            <a:off x="2476723" y="3803035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443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rot="5400000" flipH="1">
            <a:off x="6503670" y="4732019"/>
            <a:ext cx="45719" cy="45720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6245021" y="1246336"/>
            <a:ext cx="2555503" cy="3737610"/>
          </a:xfrm>
        </p:spPr>
        <p:txBody>
          <a:bodyPr>
            <a:noAutofit/>
          </a:bodyPr>
          <a:lstStyle/>
          <a:p>
            <a:r>
              <a:rPr lang="ru-RU" sz="1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Источник: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(соревнование 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PetFinder.my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Adoption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Объём: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около 15 000 записей о кошках из приютов.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поля для проекта:</a:t>
            </a:r>
            <a:b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Возраст (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фотографий (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PhotoAmt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Статус стерилизации (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Sterilization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Размер (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MaturitySize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– размер животного во взрослом возрасте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Длина шерсти (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FurLength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Состояние здоровья (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Health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6296746" y="338415"/>
            <a:ext cx="2412968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Информация </a:t>
            </a:r>
            <a:endParaRPr lang="en-US" sz="28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 </a:t>
            </a:r>
            <a:r>
              <a:rPr lang="ru-RU" sz="28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датасете</a:t>
            </a:r>
            <a:endParaRPr lang="ru-RU" sz="28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787176"/>
            <a:ext cx="5904656" cy="3517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5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339752" y="267494"/>
            <a:ext cx="2286000" cy="616108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267744" y="987574"/>
            <a:ext cx="5112568" cy="3888432"/>
          </a:xfrm>
        </p:spPr>
        <p:txBody>
          <a:bodyPr>
            <a:normAutofit fontScale="85000" lnSpcReduction="20000"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Загрузка данных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PetFinder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загружен в HDFS через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Apache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ETL-обработка 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удаление пустых строк и аномалий, добавление колонки 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AgeGroup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Kitten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Adult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Senior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приведение типов.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Кластеризация 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MLlib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все коты разделены на 5 кластеров алгоритмом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KMeans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признакам (возраст, размер, шерсть, здоровье). Результат сохранён в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-таблицу 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cats_clustered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Рекомендательная система 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MLlib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на основе кластеров сгенерированы синтетические взаимодействия, построена модель ALS, для каждого пользователя выдано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рекомендаций. Результат сохранён в 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cat_recommendations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Аналитический блок 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SQL)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выполнены запросы в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Hue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подсчёт общего числа котов, распределение по возрастам, топ-10 пород, статистика по кластерам.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Веб-приложение 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разработаны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эндпоинты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главная страница с поиском, статистика, поиск по имени/возрасту, рекомендации по ID кота.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Визуализация через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Hue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созданы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дашборды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диаграммами, настроен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File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Editor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Автоматизация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— создан скрипт run_all.py, последовательно запускающий все этапы.</a:t>
            </a:r>
          </a:p>
        </p:txBody>
      </p:sp>
      <p:pic>
        <p:nvPicPr>
          <p:cNvPr id="4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>
            <a:off x="7596336" y="2283718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flipH="1">
            <a:off x="7564367" y="688321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68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rot="5400000" flipH="1">
            <a:off x="6503670" y="4732019"/>
            <a:ext cx="45719" cy="45720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6300192" y="1189866"/>
            <a:ext cx="2537554" cy="3953634"/>
          </a:xfrm>
        </p:spPr>
        <p:txBody>
          <a:bodyPr>
            <a:normAutofit lnSpcReduction="10000"/>
          </a:bodyPr>
          <a:lstStyle/>
          <a:p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Хранение: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HDFS (распределенное хранение исходных CSV-файлов).</a:t>
            </a:r>
          </a:p>
          <a:p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Загрузка: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Apache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Spark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(автоматическая загрузка в HDFS посредством скрипта).</a:t>
            </a:r>
          </a:p>
          <a:p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Обработка: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de-DE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(</a:t>
            </a:r>
            <a:r>
              <a:rPr lang="de-DE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de-DE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+ Spark </a:t>
            </a:r>
            <a:r>
              <a:rPr lang="de-DE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MLlib</a:t>
            </a:r>
            <a:r>
              <a:rPr lang="de-DE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(</a:t>
            </a:r>
            <a:r>
              <a:rPr lang="de-DE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очистка</a:t>
            </a:r>
            <a:r>
              <a:rPr lang="de-DE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de-DE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кластеризация</a:t>
            </a:r>
            <a:r>
              <a:rPr lang="de-DE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ALS)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Хранение результатов: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Hive-</a:t>
            </a:r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таблицы</a:t>
            </a:r>
          </a:p>
          <a:p>
            <a:r>
              <a:rPr lang="ru-RU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Бэкенд</a:t>
            </a:r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/>
              <a:t> </a:t>
            </a: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Flask + </a:t>
            </a:r>
            <a:r>
              <a:rPr lang="en-US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(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веб-приложение, </a:t>
            </a: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 API)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 и</a:t>
            </a: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аналитика: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/>
              <a:t> </a:t>
            </a: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Hue</a:t>
            </a:r>
            <a:endParaRPr lang="ru-RU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Автоматизация: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Python-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скрипт </a:t>
            </a: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run_all.py</a:t>
            </a: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(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единый </a:t>
            </a:r>
            <a:r>
              <a:rPr lang="ru-RU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пайплайн</a:t>
            </a:r>
            <a:r>
              <a:rPr lang="ru-RU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0192" y="280660"/>
            <a:ext cx="2537554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Инструменты </a:t>
            </a:r>
            <a:br>
              <a:rPr lang="ru-RU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работы</a:t>
            </a:r>
          </a:p>
          <a:p>
            <a:endParaRPr lang="ru-RU" b="1" dirty="0">
              <a:solidFill>
                <a:schemeClr val="tx2"/>
              </a:solidFill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  <p:pic>
        <p:nvPicPr>
          <p:cNvPr id="9" name="Объект 8"/>
          <p:cNvPicPr>
            <a:picLocks noGrp="1" noChangeAspect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190" y="815436"/>
            <a:ext cx="5636020" cy="3526915"/>
          </a:xfrm>
        </p:spPr>
      </p:pic>
    </p:spTree>
    <p:extLst>
      <p:ext uri="{BB962C8B-B14F-4D97-AF65-F5344CB8AC3E}">
        <p14:creationId xmlns:p14="http://schemas.microsoft.com/office/powerpoint/2010/main" val="3734551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23478"/>
            <a:ext cx="7543800" cy="506512"/>
          </a:xfrm>
        </p:spPr>
        <p:txBody>
          <a:bodyPr>
            <a:normAutofit fontScale="90000"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"/>
          </p:nvPr>
        </p:nvSpPr>
        <p:spPr>
          <a:xfrm>
            <a:off x="467544" y="1347614"/>
            <a:ext cx="3657600" cy="493776"/>
          </a:xfrm>
        </p:spPr>
        <p:txBody>
          <a:bodyPr/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3"/>
          </p:nvPr>
        </p:nvSpPr>
        <p:spPr>
          <a:xfrm>
            <a:off x="4355976" y="1347614"/>
            <a:ext cx="3657600" cy="493776"/>
          </a:xfrm>
        </p:spPr>
        <p:txBody>
          <a:bodyPr/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поиска с минимальным возрастом в 10 месяцев</a:t>
            </a:r>
          </a:p>
        </p:txBody>
      </p:sp>
      <p:pic>
        <p:nvPicPr>
          <p:cNvPr id="3075" name="Picture 3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1975" y="1874423"/>
            <a:ext cx="3657600" cy="2709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6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863793"/>
            <a:ext cx="3657600" cy="273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39552" y="555526"/>
            <a:ext cx="777636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Техническая реализация приложения сделана с помощью </a:t>
            </a:r>
            <a:r>
              <a:rPr lang="en-US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Flask 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 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эндпоинтами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Были реализованы </a:t>
            </a:r>
          </a:p>
          <a:p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 и технологии, поиск с фильтрацией по имени и возрасту, результаты поиска в лице</a:t>
            </a:r>
          </a:p>
          <a:p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катрочек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котиков с их фото и описанием.</a:t>
            </a:r>
          </a:p>
        </p:txBody>
      </p:sp>
    </p:spTree>
    <p:extLst>
      <p:ext uri="{BB962C8B-B14F-4D97-AF65-F5344CB8AC3E}">
        <p14:creationId xmlns:p14="http://schemas.microsoft.com/office/powerpoint/2010/main" val="142085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206500"/>
            <a:ext cx="2602632" cy="771549"/>
          </a:xfrm>
        </p:spPr>
        <p:txBody>
          <a:bodyPr>
            <a:norm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</a:t>
            </a:r>
          </a:p>
        </p:txBody>
      </p:sp>
      <p:pic>
        <p:nvPicPr>
          <p:cNvPr id="3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rot="16200000">
            <a:off x="6004132" y="-152144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Picture background"/>
          <p:cNvPicPr>
            <a:picLocks noChangeAspect="1" noChangeArrowheads="1"/>
          </p:cNvPicPr>
          <p:nvPr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73" t="16636" r="34762" b="15377"/>
          <a:stretch/>
        </p:blipFill>
        <p:spPr bwMode="auto">
          <a:xfrm rot="5400000" flipV="1">
            <a:off x="4435028" y="-135460"/>
            <a:ext cx="745390" cy="159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395536" y="1203598"/>
            <a:ext cx="3888432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 основе 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-таблиц в 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Hue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реализованы:</a:t>
            </a:r>
          </a:p>
          <a:p>
            <a:endParaRPr lang="ru-RU" sz="1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File</a:t>
            </a:r>
            <a:r>
              <a:rPr lang="ru-RU" sz="1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— просмотр файлов в HDFS.</a:t>
            </a:r>
          </a:p>
          <a:p>
            <a:r>
              <a:rPr lang="ru-RU" sz="14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1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Editor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— выполнение SQL-запросов к таблицам (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cats_raw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cats_enriched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cats_clustered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sz="14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cat_recommendations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ru-RU" sz="14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Chart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— визуализация результатов запросов в виде столбчатых и круговых диаграмм (распределение по возрастам, кластерам, топ пород).</a:t>
            </a:r>
          </a:p>
          <a:p>
            <a:r>
              <a:rPr lang="ru-RU" sz="14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Query</a:t>
            </a:r>
            <a:r>
              <a:rPr lang="ru-RU" sz="1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1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History</a:t>
            </a:r>
            <a:r>
              <a:rPr lang="ru-RU" sz="1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— сохранённая история запросов для демонстрации на защите.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5089" y="1034934"/>
            <a:ext cx="4266209" cy="18138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8" y="2843077"/>
            <a:ext cx="4152389" cy="20723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23401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63688" y="195486"/>
            <a:ext cx="1493912" cy="544100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55776" y="807554"/>
            <a:ext cx="5688632" cy="3240360"/>
          </a:xfrm>
        </p:spPr>
        <p:txBody>
          <a:bodyPr>
            <a:no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гипотез: 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самая быстрая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усыновляемость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котят и стерилизованных животных. Наличие фото увеличивает скорость усыновления. Выявлены породы-лидеры по скорости усыновления.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Автоматизация: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создан ETL-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пайплайн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который позволяет за секунды обрабатывать тысячи записей.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Кластеризация: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коты разделены на 5 кластеров по характеристикам с помощью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KMeans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Рекомендательная система: 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построена модель ALS, для каждого пользователя сгенерировано 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рекомендаций.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Веб-приложение: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разработан интерфейс на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поиском по имени, возрасту и породе, карточками котов и рекомендациями.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Практическая ценность: 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 API позволяет моментально рекомендовать кандидатов из приюта, а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дашборды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Hue</a:t>
            </a:r>
            <a:r>
              <a:rPr lang="ru-RU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дают сотрудникам возможность видеть статистику и принимать решения на основе данных.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668344" y="123478"/>
            <a:ext cx="925127" cy="29876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290386" y="868022"/>
            <a:ext cx="265390" cy="26539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290386" y="1586280"/>
            <a:ext cx="265390" cy="26539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290386" y="2074375"/>
            <a:ext cx="265390" cy="26539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290386" y="2589289"/>
            <a:ext cx="265390" cy="26539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290386" y="3075922"/>
            <a:ext cx="265390" cy="26539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2290386" y="3562555"/>
            <a:ext cx="265390" cy="26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766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1719" y="843558"/>
            <a:ext cx="48049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  <p:pic>
        <p:nvPicPr>
          <p:cNvPr id="2050" name="Picture 2" descr="https://i.pinimg.com/736x/b9/fe/ff/b9feffae21f658b4beb49072ca9b850a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2" t="28479" r="10116" b="25250"/>
          <a:stretch/>
        </p:blipFill>
        <p:spPr bwMode="auto">
          <a:xfrm>
            <a:off x="4860032" y="1818168"/>
            <a:ext cx="2151570" cy="22659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32" r="10365"/>
          <a:stretch/>
        </p:blipFill>
        <p:spPr bwMode="auto">
          <a:xfrm flipH="1">
            <a:off x="1763688" y="1818168"/>
            <a:ext cx="2817096" cy="22659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6" t="10893" r="7919" b="19304"/>
          <a:stretch/>
        </p:blipFill>
        <p:spPr bwMode="auto">
          <a:xfrm rot="5928919">
            <a:off x="769795" y="381833"/>
            <a:ext cx="1214197" cy="92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6894724" y="51602"/>
            <a:ext cx="1789664" cy="223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4361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Эркер">
  <a:themeElements>
    <a:clrScheme name="Апекс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Эркер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Эркер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290</TotalTime>
  <Words>823</Words>
  <Application>Microsoft Office PowerPoint</Application>
  <PresentationFormat>Экран (16:9)</PresentationFormat>
  <Paragraphs>67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Century Schoolbook</vt:lpstr>
      <vt:lpstr>Samsung SS Body Bold</vt:lpstr>
      <vt:lpstr>Times New Roman</vt:lpstr>
      <vt:lpstr>Wingdings</vt:lpstr>
      <vt:lpstr>Wingdings 2</vt:lpstr>
      <vt:lpstr>Эркер</vt:lpstr>
      <vt:lpstr>Презентация PowerPoint</vt:lpstr>
      <vt:lpstr>Цель</vt:lpstr>
      <vt:lpstr>Актуальность</vt:lpstr>
      <vt:lpstr>Выдвигаемые гипотезы</vt:lpstr>
      <vt:lpstr>Презентация PowerPoint</vt:lpstr>
      <vt:lpstr>Ход работы</vt:lpstr>
      <vt:lpstr>Презентация PowerPoint</vt:lpstr>
      <vt:lpstr>Визуализация</vt:lpstr>
      <vt:lpstr>Визуализация</vt:lpstr>
      <vt:lpstr>Вывод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_ Formao</cp:lastModifiedBy>
  <cp:revision>40</cp:revision>
  <dcterms:created xsi:type="dcterms:W3CDTF">2026-06-21T09:35:46Z</dcterms:created>
  <dcterms:modified xsi:type="dcterms:W3CDTF">2026-06-25T10:33:31Z</dcterms:modified>
</cp:coreProperties>
</file>